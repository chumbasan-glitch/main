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" y="137160"/>
            <a:ext cx="3561588" cy="548640"/>
          </a:xfrm>
          <a:prstGeom prst="roundRect">
            <a:avLst>
              <a:gd name="adj" fmla="val 13333"/>
            </a:avLst>
          </a:prstGeom>
          <a:solidFill>
            <a:srgbClr val="E3EAF5"/>
          </a:solidFill>
          <a:ln w="15875">
            <a:solidFill>
              <a:srgbClr val="1F3A68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92024"/>
            <a:ext cx="438912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137160"/>
            <a:ext cx="25557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68"/>
                </a:solidFill>
              </a:rPr>
              <a:t>織田信長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658868" y="13716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4CC"/>
          </a:solidFill>
          <a:ln w="15875">
            <a:solidFill>
              <a:srgbClr val="D9A40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658868" y="137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A5A00"/>
                </a:solidFill>
              </a:rPr>
              <a:t>分析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6990588" y="137160"/>
            <a:ext cx="3561588" cy="548640"/>
          </a:xfrm>
          <a:prstGeom prst="roundRect">
            <a:avLst>
              <a:gd name="adj" fmla="val 13333"/>
            </a:avLst>
          </a:prstGeom>
          <a:solidFill>
            <a:srgbClr val="F8E3E8"/>
          </a:solidFill>
          <a:ln w="15875">
            <a:solidFill>
              <a:srgbClr val="9E1B3A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188" y="19202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67828" y="137160"/>
            <a:ext cx="25557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9E1B3A"/>
                </a:solidFill>
              </a:rPr>
              <a:t>豊臣秀吉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137160" y="731520"/>
            <a:ext cx="868680" cy="2200656"/>
          </a:xfrm>
          <a:prstGeom prst="roundRect">
            <a:avLst>
              <a:gd name="adj" fmla="val 8421"/>
            </a:avLst>
          </a:prstGeom>
          <a:solidFill>
            <a:srgbClr val="E3EDF8"/>
          </a:solidFill>
          <a:ln w="15875">
            <a:solidFill>
              <a:srgbClr val="2F6DB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86868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4592" y="1389888"/>
            <a:ext cx="813816" cy="146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①外国人に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対しての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取り組みや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考え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2F6DB5"/>
                </a:solidFill>
              </a:rPr>
              <a:t>（外交）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1051560" y="731520"/>
            <a:ext cx="3561588" cy="2200656"/>
          </a:xfrm>
          <a:prstGeom prst="rect">
            <a:avLst/>
          </a:prstGeom>
          <a:solidFill>
            <a:srgbClr val="FFFFFF"/>
          </a:solidFill>
          <a:ln w="15875">
            <a:solidFill>
              <a:srgbClr val="2F6DB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4658868" y="731520"/>
            <a:ext cx="2286000" cy="2200656"/>
          </a:xfrm>
          <a:prstGeom prst="rect">
            <a:avLst/>
          </a:prstGeom>
          <a:solidFill>
            <a:srgbClr val="FFFBEA"/>
          </a:solidFill>
          <a:ln w="15875">
            <a:solidFill>
              <a:srgbClr val="2F6DB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990588" y="731520"/>
            <a:ext cx="3561588" cy="2200656"/>
          </a:xfrm>
          <a:prstGeom prst="rect">
            <a:avLst/>
          </a:prstGeom>
          <a:solidFill>
            <a:srgbClr val="FFFFFF"/>
          </a:solidFill>
          <a:ln w="15875">
            <a:solidFill>
              <a:srgbClr val="2F6DB5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37160" y="3023616"/>
            <a:ext cx="868680" cy="2200656"/>
          </a:xfrm>
          <a:prstGeom prst="roundRect">
            <a:avLst>
              <a:gd name="adj" fmla="val 8421"/>
            </a:avLst>
          </a:prstGeom>
          <a:solidFill>
            <a:srgbClr val="E4F0E2"/>
          </a:solidFill>
          <a:ln w="15875">
            <a:solidFill>
              <a:srgbClr val="3E7D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3160776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" y="3681984"/>
            <a:ext cx="813816" cy="146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②武士に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対しての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取り組みや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考え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3E7D3E"/>
                </a:solidFill>
              </a:rPr>
              <a:t>（軍事）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1051560" y="3023616"/>
            <a:ext cx="3561588" cy="2200656"/>
          </a:xfrm>
          <a:prstGeom prst="rect">
            <a:avLst/>
          </a:prstGeom>
          <a:solidFill>
            <a:srgbClr val="FFFFFF"/>
          </a:solidFill>
          <a:ln w="15875">
            <a:solidFill>
              <a:srgbClr val="3E7D3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658868" y="3023616"/>
            <a:ext cx="2286000" cy="2200656"/>
          </a:xfrm>
          <a:prstGeom prst="rect">
            <a:avLst/>
          </a:prstGeom>
          <a:solidFill>
            <a:srgbClr val="FFFBEA"/>
          </a:solidFill>
          <a:ln w="15875">
            <a:solidFill>
              <a:srgbClr val="3E7D3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990588" y="3023616"/>
            <a:ext cx="3561588" cy="2200656"/>
          </a:xfrm>
          <a:prstGeom prst="rect">
            <a:avLst/>
          </a:prstGeom>
          <a:solidFill>
            <a:srgbClr val="FFFFFF"/>
          </a:solidFill>
          <a:ln w="15875">
            <a:solidFill>
              <a:srgbClr val="3E7D3E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137160" y="5315712"/>
            <a:ext cx="868680" cy="2200656"/>
          </a:xfrm>
          <a:prstGeom prst="roundRect">
            <a:avLst>
              <a:gd name="adj" fmla="val 8421"/>
            </a:avLst>
          </a:prstGeom>
          <a:solidFill>
            <a:srgbClr val="FBEBDD"/>
          </a:solidFill>
          <a:ln w="15875">
            <a:solidFill>
              <a:srgbClr val="C8641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" y="5452872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4592" y="5974080"/>
            <a:ext cx="813816" cy="146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③農民に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対しての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取り組みや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考え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C8641E"/>
                </a:solidFill>
              </a:rPr>
              <a:t>（民事）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1051560" y="5315712"/>
            <a:ext cx="3561588" cy="2200656"/>
          </a:xfrm>
          <a:prstGeom prst="rect">
            <a:avLst/>
          </a:prstGeom>
          <a:solidFill>
            <a:srgbClr val="FFFFFF"/>
          </a:solidFill>
          <a:ln w="15875">
            <a:solidFill>
              <a:srgbClr val="C8641E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658868" y="5315712"/>
            <a:ext cx="2286000" cy="2200656"/>
          </a:xfrm>
          <a:prstGeom prst="rect">
            <a:avLst/>
          </a:prstGeom>
          <a:solidFill>
            <a:srgbClr val="FFFBEA"/>
          </a:solidFill>
          <a:ln w="15875">
            <a:solidFill>
              <a:srgbClr val="C8641E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990588" y="5315712"/>
            <a:ext cx="3561588" cy="2200656"/>
          </a:xfrm>
          <a:prstGeom prst="rect">
            <a:avLst/>
          </a:prstGeom>
          <a:solidFill>
            <a:srgbClr val="FFFFFF"/>
          </a:solidFill>
          <a:ln w="15875">
            <a:solidFill>
              <a:srgbClr val="C8641E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" y="137160"/>
            <a:ext cx="3561588" cy="548640"/>
          </a:xfrm>
          <a:prstGeom prst="roundRect">
            <a:avLst>
              <a:gd name="adj" fmla="val 13333"/>
            </a:avLst>
          </a:prstGeom>
          <a:solidFill>
            <a:srgbClr val="E3EAF5"/>
          </a:solidFill>
          <a:ln w="15875">
            <a:solidFill>
              <a:srgbClr val="1F3A68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92024"/>
            <a:ext cx="438912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137160"/>
            <a:ext cx="25557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A68"/>
                </a:solidFill>
              </a:rPr>
              <a:t>織田信長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658868" y="13716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4CC"/>
          </a:solidFill>
          <a:ln w="15875">
            <a:solidFill>
              <a:srgbClr val="D9A40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658868" y="137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A5A00"/>
                </a:solidFill>
              </a:rPr>
              <a:t>分析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6990588" y="137160"/>
            <a:ext cx="3561588" cy="548640"/>
          </a:xfrm>
          <a:prstGeom prst="roundRect">
            <a:avLst>
              <a:gd name="adj" fmla="val 13333"/>
            </a:avLst>
          </a:prstGeom>
          <a:solidFill>
            <a:srgbClr val="F8E3E8"/>
          </a:solidFill>
          <a:ln w="15875">
            <a:solidFill>
              <a:srgbClr val="9E1B3A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188" y="19202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67828" y="137160"/>
            <a:ext cx="25557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9E1B3A"/>
                </a:solidFill>
              </a:rPr>
              <a:t>豊臣秀吉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137160" y="731520"/>
            <a:ext cx="868680" cy="2200656"/>
          </a:xfrm>
          <a:prstGeom prst="roundRect">
            <a:avLst>
              <a:gd name="adj" fmla="val 8421"/>
            </a:avLst>
          </a:prstGeom>
          <a:solidFill>
            <a:srgbClr val="ECE6F4"/>
          </a:solidFill>
          <a:ln w="15875">
            <a:solidFill>
              <a:srgbClr val="6E4FA0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86868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4592" y="1389888"/>
            <a:ext cx="813816" cy="146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④商人に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対しての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取り組みや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考え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6E4FA0"/>
                </a:solidFill>
              </a:rPr>
              <a:t>（経済）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1051560" y="731520"/>
            <a:ext cx="3561588" cy="2200656"/>
          </a:xfrm>
          <a:prstGeom prst="rect">
            <a:avLst/>
          </a:prstGeom>
          <a:solidFill>
            <a:srgbClr val="FFFFFF"/>
          </a:solidFill>
          <a:ln w="15875">
            <a:solidFill>
              <a:srgbClr val="6E4FA0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4658868" y="731520"/>
            <a:ext cx="2286000" cy="2200656"/>
          </a:xfrm>
          <a:prstGeom prst="rect">
            <a:avLst/>
          </a:prstGeom>
          <a:solidFill>
            <a:srgbClr val="FFFBEA"/>
          </a:solidFill>
          <a:ln w="15875">
            <a:solidFill>
              <a:srgbClr val="6E4FA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990588" y="731520"/>
            <a:ext cx="3561588" cy="2200656"/>
          </a:xfrm>
          <a:prstGeom prst="rect">
            <a:avLst/>
          </a:prstGeom>
          <a:solidFill>
            <a:srgbClr val="FFFFFF"/>
          </a:solidFill>
          <a:ln w="15875">
            <a:solidFill>
              <a:srgbClr val="6E4FA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37160" y="3023616"/>
            <a:ext cx="868680" cy="2200656"/>
          </a:xfrm>
          <a:prstGeom prst="roundRect">
            <a:avLst>
              <a:gd name="adj" fmla="val 8421"/>
            </a:avLst>
          </a:prstGeom>
          <a:solidFill>
            <a:srgbClr val="F6E3E1"/>
          </a:solidFill>
          <a:ln w="15875">
            <a:solidFill>
              <a:srgbClr val="A0362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3160776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" y="3681984"/>
            <a:ext cx="813816" cy="146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⑤朝廷や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幕府に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対しての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取り組みや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考え</a:t>
            </a:r>
            <a:endParaRPr lang="en-US" sz="105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A0362E"/>
                </a:solidFill>
              </a:rPr>
              <a:t>（政治）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1051560" y="3023616"/>
            <a:ext cx="3561588" cy="2200656"/>
          </a:xfrm>
          <a:prstGeom prst="rect">
            <a:avLst/>
          </a:prstGeom>
          <a:solidFill>
            <a:srgbClr val="FFFFFF"/>
          </a:solidFill>
          <a:ln w="15875">
            <a:solidFill>
              <a:srgbClr val="A0362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658868" y="3023616"/>
            <a:ext cx="2286000" cy="2200656"/>
          </a:xfrm>
          <a:prstGeom prst="rect">
            <a:avLst/>
          </a:prstGeom>
          <a:solidFill>
            <a:srgbClr val="FFFBEA"/>
          </a:solidFill>
          <a:ln w="15875">
            <a:solidFill>
              <a:srgbClr val="A0362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990588" y="3023616"/>
            <a:ext cx="3561588" cy="2200656"/>
          </a:xfrm>
          <a:prstGeom prst="rect">
            <a:avLst/>
          </a:prstGeom>
          <a:solidFill>
            <a:srgbClr val="FFFFFF"/>
          </a:solidFill>
          <a:ln w="15875">
            <a:solidFill>
              <a:srgbClr val="A0362E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137160" y="5315712"/>
            <a:ext cx="868680" cy="2200656"/>
          </a:xfrm>
          <a:prstGeom prst="roundRect">
            <a:avLst>
              <a:gd name="adj" fmla="val 8421"/>
            </a:avLst>
          </a:prstGeom>
          <a:solidFill>
            <a:srgbClr val="DFF0EF"/>
          </a:solidFill>
          <a:ln w="15875">
            <a:solidFill>
              <a:srgbClr val="237E7A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" y="5452872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4592" y="5974080"/>
            <a:ext cx="813816" cy="146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222222"/>
                </a:solidFill>
              </a:rPr>
              <a:t>⑥その他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1051560" y="5315712"/>
            <a:ext cx="3561588" cy="2200656"/>
          </a:xfrm>
          <a:prstGeom prst="rect">
            <a:avLst/>
          </a:prstGeom>
          <a:solidFill>
            <a:srgbClr val="FFFFFF"/>
          </a:solidFill>
          <a:ln w="15875">
            <a:solidFill>
              <a:srgbClr val="237E7A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658868" y="5315712"/>
            <a:ext cx="2286000" cy="2200656"/>
          </a:xfrm>
          <a:prstGeom prst="rect">
            <a:avLst/>
          </a:prstGeom>
          <a:solidFill>
            <a:srgbClr val="FFFBEA"/>
          </a:solidFill>
          <a:ln w="15875">
            <a:solidFill>
              <a:srgbClr val="237E7A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990588" y="5315712"/>
            <a:ext cx="3561588" cy="2200656"/>
          </a:xfrm>
          <a:prstGeom prst="rect">
            <a:avLst/>
          </a:prstGeom>
          <a:solidFill>
            <a:srgbClr val="FFFFFF"/>
          </a:solidFill>
          <a:ln w="15875">
            <a:solidFill>
              <a:srgbClr val="237E7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Pゴシック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戦国の世から天下統一へ 分析ワークシート</dc:title>
  <dc:subject>PptxGenJS Presentation</dc:subject>
  <dc:creator>PptxGenJS</dc:creator>
  <cp:lastModifiedBy>PptxGenJS</cp:lastModifiedBy>
  <cp:revision>1</cp:revision>
  <dcterms:created xsi:type="dcterms:W3CDTF">2026-10-26T01:54:19Z</dcterms:created>
  <dcterms:modified xsi:type="dcterms:W3CDTF">2026-10-26T01:54:19Z</dcterms:modified>
</cp:coreProperties>
</file>